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838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1: Ask Magic Mike — the owned lead operating system.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2: Own the path from interest to accountable follow-up.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3: Disconnected follow-up is a systems problem.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4: Connect what already works.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5: Many front doors, one record.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6: From capture to measured outcome.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7: Short, accessible, mobile-first intake.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8: Deterministic scoring, human judgment.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9: Accountable allocation with safe fallback.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10: The Lead Center turns records into next actions.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11: Human-reviewed pathways, careful claims.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12: Wilson-first, evidence before expansion.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13: Source-to-outcome without PII leakage.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14: A verified zero-state.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15: Review evidence before activating automation.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16: Current system inventory.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17: Current technical architecture.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18: Routing and SLA rules.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19: Consent, privacy, and security.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20: Communication permission architecture.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21: Message sequence state machine.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22: Provider event lifecycle.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23: AI architecture and Copilot tools.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24: Form 3 acknowledgment release gate.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speaker note. Sales slide 25: QA, security, sources, and open decisions. Keep operational facts separate from planning assumptions and future approvals.
Status language is evidence-based: Verified Live, Verified Test, Code Complete, Disabled, and Approval Required are not interchangeable.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M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967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MAGIC MIKE  •  OUR TOWN PROPERTIES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281160" y="65196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8  •  18 AUG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Magic Mike — the owned lead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funnel is live. The lead center, messaging controls, and measurement spine are built around one canonical record.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production deployment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Neon database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 Form 3 bridge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Role-scoped operations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path from interest to accountable follow-up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Town already owns trust, traffic surfaces, listings, and forms. Ask Magic Mike organizes capture, attribution, routing, notification, and proof.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parallel lead silo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manual copy between systems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AI authority over assignment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consumer automation by default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Disconnected follow-up is a systems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risk is not a lack of effort. It is inconsistent capture, source loss, duplicate handling, and invisible delivery failure.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storage first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explainable score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accountable owner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failure and retry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 IN PLACE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what already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architecture preserves OurTownProperties.com as the authority surface and AskMagicMike.com as the conversion application.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public app: live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3 bridge: live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Center RBAC: ready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Resend webhook: enabled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POINTS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front doors, one record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Seller, buyer, value, Ask, widget, and approved WordPress capture converge on one canonical lead backend.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/sell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/buy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/value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/ask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/widget/v1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790956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90956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1072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Gravity Form 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capture to measured outcome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stage has a durable or auditable signal.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940" dirty="0"/>
          </a:p>
        </p:txBody>
      </p:sp>
      <p:sp>
        <p:nvSpPr>
          <p:cNvPr id="8" name="Shape 5"/>
          <p:cNvSpPr/>
          <p:nvPr/>
        </p:nvSpPr>
        <p:spPr>
          <a:xfrm>
            <a:off x="1600200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64792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37944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2862072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026664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9816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123944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88536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61688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5385816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550408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6647688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812280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85432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7909560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74152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7304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9171432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36024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09176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up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10433304" y="2697480"/>
            <a:ext cx="128016" cy="0"/>
          </a:xfrm>
          <a:prstGeom prst="line">
            <a:avLst/>
          </a:prstGeom>
          <a:noFill/>
          <a:ln w="21590">
            <a:solidFill>
              <a:srgbClr val="D5AF58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597896" y="2286000"/>
            <a:ext cx="1060704" cy="822960"/>
          </a:xfrm>
          <a:prstGeom prst="roundRect">
            <a:avLst>
              <a:gd name="adj" fmla="val 6667"/>
            </a:avLst>
          </a:prstGeom>
          <a:solidFill>
            <a:srgbClr val="101010"/>
          </a:solidFill>
          <a:ln w="15240">
            <a:solidFill>
              <a:srgbClr val="D5AF5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71048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6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Short, accessible, mobile-first intake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use progressive steps, clear labels, client and server validation, durable success states, consent evidence, and truthful follow-up language.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instant-value promise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guaranteed offer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fabricated availability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JavaScript-only trust boundary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scoring, human judgment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score prioritizes attention with named factors. It cannot silently assign, reject, or contact a consumer.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0–100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weights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 + explanation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override audited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Accountable allocation with safe fallback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and urgent leads route to the approved primary owner; other routes require an approved mapping or admin review.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owner retained on duplicates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eligible recipient → unassigned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reassignment audited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BCC is never assignment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OPERATION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Lead Center turns records into next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protected interface separates business queues from suppressed QA and gives operators facts, permission state, delivery history, and auditable actions.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inbox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detail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queue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790956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90956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1072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health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OPTIONS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Human-reviewed pathways, careful claims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choices can be organized without automated appraisal, guaranteed price, or unconditional cash-offer language.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listing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As-is discussion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Direct-purchase options review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Nurture or specialist review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Wilson-first, evidence before expansion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is a routing and operating decision—not a design claim. Service coverage, MLS rights, owner capacity, and compliance must be confirmed first.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market: Wilson / Eastern NC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Coastal expansion: held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steering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invented inventory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Source-to-outcome without PII leakage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and last touch, UTMs, click IDs, placement, consent, assignment, notification, and stage events stay attached to the canonical record.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excluded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raw PII in analytics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Cross-domain strategy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event names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verified zero-state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are zero genuine leads and zero attributed commercial outcomes. Planning workbooks are editable scenarios—not guarantees.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685800" y="1737360"/>
          <a:ext cx="5806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903720" y="1874520"/>
            <a:ext cx="43434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 inactive</a:t>
            </a:r>
            <a:endParaRPr lang="en-US" sz="1500" dirty="0"/>
          </a:p>
          <a:p>
            <a:pPr marL="285750" indent="-2857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business revenue: $0</a:t>
            </a:r>
            <a:endParaRPr lang="en-US" sz="1500" dirty="0"/>
          </a:p>
          <a:p>
            <a:pPr marL="285750" indent="-2857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AI test cost: $0.006619</a:t>
            </a:r>
            <a:endParaRPr lang="en-US" sz="1500" dirty="0"/>
          </a:p>
          <a:p>
            <a:pPr marL="285750" indent="-2857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Break-even depends on verified economics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evidence before activating automation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immediate decision is artifact and release-gate review, not broad consumer messaging or spend.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consumer email off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consumer SMS off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Mike deferred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Form 3 pilot separately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2D7A59">
              <a:alpha val="95000"/>
            </a:srgbClr>
          </a:solidFill>
          <a:ln w="12700">
            <a:solidFill>
              <a:srgbClr val="2D7A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system inventory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assets are current and isolated.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main: 58554dff…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Vercel: dpl_2vgce… Ready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 production: br-round-base…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 bridge 1.1.0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technical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and private entry points are separated; canonical data and control services are shared behind server-side boundaries.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/ Vercel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 PostgreSQL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Resend + signed webhook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 signed bridge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Lead Center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and SLA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are deterministic, explainable, and reversible.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 and score influence SLA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mappings only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Duplicates preserve owner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recipient triggers admin review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Consent, privacy, and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is purpose-specific and ambiguity fails closed.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consent evidence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Suppression + unsubscribe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 and rate limits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server-side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 audited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permission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alerts, requested-service responses, marketing, property alerts, SMS, and QA are distinct purposes.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purpose ≠ another purpose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062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634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6103620" y="182880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362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4788" y="199339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required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8580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+ suppression required for QA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6062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634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103620" y="3246120"/>
            <a:ext cx="518922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0362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788" y="3410712"/>
            <a:ext cx="4805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sending disabled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37844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sequence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Draft, approval, scheduling, sending, provider events, and terminal holds are explicit states.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steps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retries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Quiet hours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caps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 / STOP / bounce / complaint stops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event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webhook events update delivery evidence without storing raw payloads.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 verification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idempotency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cannot regress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visible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hash only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architecture and Copilot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Copilot reads approved lead context and returns strict advisory output.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minimized before provider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tests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+ latency recorded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automatic action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tool filters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3 acknowledgment release gate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prepared pilot is narrow, transactional, monitored, and reversible.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3 only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template version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test or suppressed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feature flag rollback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approval required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A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J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E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QA, security, sources, and open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B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remains traceable; unsupported claims stay out.</a:t>
            </a:r>
            <a:endParaRPr lang="en-US" sz="1250" dirty="0"/>
          </a:p>
        </p:txBody>
      </p:sp>
      <p:pic>
        <p:nvPicPr>
          <p:cNvPr id="5" name="Image 0" descr="/private/tmp/amm-phase7-office-close.bNLIDa/public/brand/black-diamond/our-tow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37744"/>
            <a:ext cx="1737360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2,647 accepted Phase 7 tests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14/14 release-safety checks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909560" y="1828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9560" y="182880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1993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NellySelly isolation pass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95681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0253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8580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Resend billing risk open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15468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4297680" y="324612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01010"/>
          </a:solidFill>
          <a:ln w="15240">
            <a:solidFill>
              <a:srgbClr val="5B4C2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246120"/>
            <a:ext cx="54864" cy="1078992"/>
          </a:xfrm>
          <a:prstGeom prst="rect">
            <a:avLst/>
          </a:prstGeom>
          <a:solidFill>
            <a:srgbClr val="D5AF58"/>
          </a:solidFill>
          <a:ln w="12700">
            <a:solidFill>
              <a:srgbClr val="D5AF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8848" y="34107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Center sign-in needed for fresh screenshots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337413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83838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34427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13232" y="56692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current-state claims trace to the Phase 8 redacted data source and accepted repository evidence.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8661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5AF5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Our Town Properties,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Magic Mike Current System Sales Presentation</dc:title>
  <dc:subject>Current long-form product, operating, and controlled-growth presentation</dc:subject>
  <dc:creator>Our Town Properties / Ask Magic Mike</dc:creator>
  <cp:lastModifiedBy>Our Town Properties / Ask Magic Mike</cp:lastModifiedBy>
  <cp:revision>1</cp:revision>
  <dcterms:created xsi:type="dcterms:W3CDTF">2026-08-18T22:50:13Z</dcterms:created>
  <dcterms:modified xsi:type="dcterms:W3CDTF">2026-08-18T22:50:13Z</dcterms:modified>
</cp:coreProperties>
</file>