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 count</c:v>
                </c:pt>
              </c:strCache>
            </c:strRef>
          </c:tx>
          <c:spPr>
            <a:solidFill>
              <a:srgbClr val="D5AF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Genuine leads</c:v>
                  </c:pt>
                  <c:pt idx="1">
                    <c:v>Suppressed QA</c:v>
                  </c:pt>
                  <c:pt idx="2">
                    <c:v>QA in business Active/New</c:v>
                  </c:pt>
                  <c:pt idx="3">
                    <c:v>Pending notifications</c:v>
                  </c:pt>
                  <c:pt idx="4">
                    <c:v>Live failures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838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5B4C2A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Open with the operating truth: the public system is live and healthy, while outbound consumer automation remains intentionally gated.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Explain the boundary: WordPress is a bridge and audit surface, not a competing lead database. Resend currently carries a billing-risk warning.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Distinguish the six live consumer surfaces from held WordPress forwarding. Form activation in Gravity Forms is not canonical forwarding approval.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Walk the audience through the invariant: the lead is stored first, attribution stays attached, and outbound systems cannot erase the record.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Do not describe QA records as prospects. The business KPI count is zero because no unrelated consumer submission has occurred.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This was one controlled acceptance run, not a monthly cost forecast. The model remains advisory and operator-only.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Use this slide to prevent AI theater: recorded facts and deterministic controls are authoritative; AI output is explicitly advisory.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Consent for one purpose does not silently authorize another. The matrix records the reason and manual-review requirement.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Code complete is not activation. This release candidate stays behind explicit flags and human approval.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The QA message was sent only to the approved Brandon inbox. It did not use Mike, consumer, BCC, or SMS recipients.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The current browser session is not proof of a broken Lead Center; it is an expired-session control. Authenticated visual evidence needs a fresh sign-in.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Form 3 is the only bridge allowlist member. Form 7 entry 1550 remains protected and unsubscribed.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This slide prepares the decision; it does not activate the feature. Email-provider account standing must also be reviewed.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Do not extrapolate one AI acceptance cost or use fictional leads to suggest ROI. The workbook contains editable scenarios, not guarantees.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Close without directing Mike to activate anything. The next action is review; the Form 3 pilot retains its separate approval phrase.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M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1967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MAGIC MIKE  •  OUR TOWN PROPERTIES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281160" y="65196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8  •  18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2191695" cy="6437376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MAGIC MIKE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6400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live.</a:t>
            </a:r>
            <a:endParaRPr lang="en-US" sz="3500" dirty="0"/>
          </a:p>
          <a:p>
            <a:pPr indent="0" marL="0">
              <a:buNone/>
            </a:pPr>
            <a:r>
              <a:rPr lang="en-US" sz="35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measurable.</a:t>
            </a:r>
            <a:endParaRPr lang="en-US" sz="3500" dirty="0"/>
          </a:p>
          <a:p>
            <a:pPr indent="0" marL="0">
              <a:buNone/>
            </a:pPr>
            <a:r>
              <a:rPr lang="en-US" sz="35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still safely gated.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479792" y="1225296"/>
            <a:ext cx="3886200" cy="1225296"/>
          </a:xfrm>
          <a:prstGeom prst="roundRect">
            <a:avLst>
              <a:gd name="adj" fmla="val 597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9792" y="1225296"/>
            <a:ext cx="54864" cy="1225296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389888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FUNNEL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0" y="1755648"/>
            <a:ext cx="3502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domains and health endpoints are reachable.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738360" y="135331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0" y="14218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LIVE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479792" y="2660904"/>
            <a:ext cx="3886200" cy="1225296"/>
          </a:xfrm>
          <a:prstGeom prst="roundRect">
            <a:avLst>
              <a:gd name="adj" fmla="val 597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79792" y="2660904"/>
            <a:ext cx="54864" cy="1225296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825496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STATE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3191256"/>
            <a:ext cx="3502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genuine leads; 6 suppressed QA records; 0 live notification failures.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875520" y="27889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21240" y="285750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479792" y="4096512"/>
            <a:ext cx="3886200" cy="1225296"/>
          </a:xfrm>
          <a:prstGeom prst="roundRect">
            <a:avLst>
              <a:gd name="adj" fmla="val 597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4096512"/>
            <a:ext cx="54864" cy="1225296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4261104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AUTOMATION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4626864"/>
            <a:ext cx="3502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Email, SMS, sequences, and Mike activation remain off.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75520" y="422452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A82E39">
              <a:alpha val="95000"/>
            </a:srgbClr>
          </a:solidFill>
          <a:ln w="12700">
            <a:solidFill>
              <a:srgbClr val="A82E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429310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820" dirty="0"/>
          </a:p>
        </p:txBody>
      </p:sp>
      <p:pic>
        <p:nvPicPr>
          <p:cNvPr id="23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983480"/>
            <a:ext cx="2148840" cy="7132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76656" y="58247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evidence package • August 18,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canonical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public surfaces feed one durable backend; protected operations stay behind RBAC.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54864" cy="9601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993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AskMagicMike.com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45920" y="195681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91640" y="202539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40080" y="3840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3840480"/>
            <a:ext cx="54864" cy="9601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00507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WordPress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Gravity Form 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645920" y="396849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1640" y="403707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3154680" y="283464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54680" y="2834640"/>
            <a:ext cx="54864" cy="9601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55848" y="2999232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API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023360" y="296265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69080" y="303123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5532120" y="18288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32120" y="1828800"/>
            <a:ext cx="54864" cy="9601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33288" y="1993392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195681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202539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7863840" y="13258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63840" y="1325880"/>
            <a:ext cx="54864" cy="9601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65008" y="1490472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Center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732520" y="145389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78240" y="152247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7863840" y="28803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0" y="2880360"/>
            <a:ext cx="54864" cy="9601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65008" y="3044952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Webhook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732520" y="300837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A56B1F">
              <a:alpha val="95000"/>
            </a:srgbClr>
          </a:solidFill>
          <a:ln w="12700">
            <a:solidFill>
              <a:srgbClr val="A56B1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778240" y="307695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7863840" y="443484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863840" y="4434840"/>
            <a:ext cx="54864" cy="9601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65008" y="4599432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Copilot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732520" y="456285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778240" y="463143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820" dirty="0"/>
          </a:p>
        </p:txBody>
      </p:sp>
      <p:sp>
        <p:nvSpPr>
          <p:cNvPr id="41" name="Shape 38"/>
          <p:cNvSpPr/>
          <p:nvPr/>
        </p:nvSpPr>
        <p:spPr>
          <a:xfrm>
            <a:off x="10149840" y="28803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149840" y="2880360"/>
            <a:ext cx="54864" cy="9601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351008" y="3044952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744200" y="300837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789920" y="307695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2514600" y="2304288"/>
            <a:ext cx="594360" cy="82296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2514600" y="4315968"/>
            <a:ext cx="594360" cy="-91440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4892040" y="3310128"/>
            <a:ext cx="594360" cy="-100584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7269480" y="2304288"/>
            <a:ext cx="548640" cy="-512064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7269480" y="2487168"/>
            <a:ext cx="548640" cy="86868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7269480" y="2697480"/>
            <a:ext cx="548640" cy="2221992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9601200" y="3355848"/>
            <a:ext cx="502920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FUNNEL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lead entry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means reachable and wired—not proof of commercial volume.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755648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55648"/>
            <a:ext cx="54864" cy="123444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" y="2286000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/sell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22576" y="188366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68296" y="1952244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447288" y="1755648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47288" y="1755648"/>
            <a:ext cx="54864" cy="123444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48456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48456" y="2286000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/buy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11496" y="188366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57216" y="1952244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236208" y="1755648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6208" y="1755648"/>
            <a:ext cx="54864" cy="123444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37376" y="2286000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/value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00416" y="188366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46136" y="1952244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9025128" y="1755648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25128" y="1755648"/>
            <a:ext cx="54864" cy="123444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26296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226296" y="2286000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/ask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689336" y="188366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735056" y="1952244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58368" y="3328416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" y="3328416"/>
            <a:ext cx="54864" cy="123444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9536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59536" y="3858768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/widget/v1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322576" y="345643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68296" y="3525012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3447288" y="3328416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47288" y="3328416"/>
            <a:ext cx="54864" cy="123444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48456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3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648456" y="3858768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WordPress bridge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111496" y="345643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57216" y="3525012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6236208" y="3328416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236208" y="3328416"/>
            <a:ext cx="54864" cy="123444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37376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1/2/5/6/7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437376" y="3858768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Forwarding held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900416" y="345643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A56B1F">
              <a:alpha val="95000"/>
            </a:srgbClr>
          </a:solidFill>
          <a:ln w="12700">
            <a:solidFill>
              <a:srgbClr val="A56B1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46136" y="3525012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</a:t>
            </a:r>
            <a:endParaRPr lang="en-US" sz="820" dirty="0"/>
          </a:p>
        </p:txBody>
      </p:sp>
      <p:sp>
        <p:nvSpPr>
          <p:cNvPr id="48" name="Text 45"/>
          <p:cNvSpPr/>
          <p:nvPr/>
        </p:nvSpPr>
        <p:spPr>
          <a:xfrm>
            <a:off x="68580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4 is recruiting-only and excluded from consumer lead sequences.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durable transition creates evidence; notification failure never deletes the lead.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920" dirty="0"/>
          </a:p>
        </p:txBody>
      </p:sp>
      <p:sp>
        <p:nvSpPr>
          <p:cNvPr id="8" name="Shape 5"/>
          <p:cNvSpPr/>
          <p:nvPr/>
        </p:nvSpPr>
        <p:spPr>
          <a:xfrm>
            <a:off x="1600200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764792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37944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862072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026664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9816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123944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88536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61688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5385816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550408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647688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812280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85432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7909560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74152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7304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9171432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336024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09176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Up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10433304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597896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671048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1051560" y="3794760"/>
            <a:ext cx="297180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1560" y="379476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52728" y="39593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DURABILITY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252728" y="432511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succeeds before outbound delivery.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532888" y="39227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578608" y="39913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4617720" y="3794760"/>
            <a:ext cx="297180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17720" y="379476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18888" y="39593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818888" y="432511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and routing keep human-readable reasons.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099048" y="39227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44768" y="39913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8183880" y="3794760"/>
            <a:ext cx="297180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183880" y="379476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85048" y="39593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385048" y="432511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Events, retries, assignments, and exports are logged.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9665208" y="39227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710928" y="39913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production 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verified zero-state is better than a fabricated success story.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685800" y="1737360"/>
          <a:ext cx="64008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543800" y="173736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543800" y="1737360"/>
            <a:ext cx="54864" cy="1024128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44968" y="19019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GENUINE LEADS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44968" y="2240280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900" dirty="0"/>
          </a:p>
        </p:txBody>
      </p:sp>
      <p:sp>
        <p:nvSpPr>
          <p:cNvPr id="11" name="Shape 7"/>
          <p:cNvSpPr/>
          <p:nvPr/>
        </p:nvSpPr>
        <p:spPr>
          <a:xfrm>
            <a:off x="9848088" y="1865376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893808" y="193395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LIVE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7543800" y="2953512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43800" y="2953512"/>
            <a:ext cx="54864" cy="1024128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44968" y="31181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SUPPRESSED QA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744968" y="3456432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900" dirty="0"/>
          </a:p>
        </p:txBody>
      </p:sp>
      <p:sp>
        <p:nvSpPr>
          <p:cNvPr id="17" name="Shape 13"/>
          <p:cNvSpPr/>
          <p:nvPr/>
        </p:nvSpPr>
        <p:spPr>
          <a:xfrm>
            <a:off x="9985248" y="308152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30968" y="315010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</a:t>
            </a:r>
            <a:endParaRPr lang="en-US" sz="820" dirty="0"/>
          </a:p>
        </p:txBody>
      </p:sp>
      <p:sp>
        <p:nvSpPr>
          <p:cNvPr id="19" name="Shape 15"/>
          <p:cNvSpPr/>
          <p:nvPr/>
        </p:nvSpPr>
        <p:spPr>
          <a:xfrm>
            <a:off x="7543800" y="4169664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543800" y="4169664"/>
            <a:ext cx="54864" cy="1024128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44968" y="43342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FAILURES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744968" y="4672584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900" dirty="0"/>
          </a:p>
        </p:txBody>
      </p:sp>
      <p:sp>
        <p:nvSpPr>
          <p:cNvPr id="23" name="Shape 19"/>
          <p:cNvSpPr/>
          <p:nvPr/>
        </p:nvSpPr>
        <p:spPr>
          <a:xfrm>
            <a:off x="9985248" y="429768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030968" y="436626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Copilot acceptance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advisory output is durable, measured, and unable to mutate lead or communication state.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7373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37360"/>
            <a:ext cx="54864" cy="132588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190195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" y="2267712"/>
            <a:ext cx="2359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openai_responses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19656" y="186537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65376" y="193395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TEST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593592" y="17373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93592" y="1737360"/>
            <a:ext cx="54864" cy="132588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94760" y="190195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94760" y="2267712"/>
            <a:ext cx="2359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gpt-5.6-luna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46320" y="18653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19339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528816" y="173736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28816" y="1737360"/>
            <a:ext cx="54864" cy="132588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9984" y="1901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29984" y="2240280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1799</a:t>
            </a:r>
            <a:endParaRPr lang="en-US" sz="2900" dirty="0"/>
          </a:p>
        </p:txBody>
      </p:sp>
      <p:sp>
        <p:nvSpPr>
          <p:cNvPr id="22" name="Shape 19"/>
          <p:cNvSpPr/>
          <p:nvPr/>
        </p:nvSpPr>
        <p:spPr>
          <a:xfrm>
            <a:off x="7278624" y="18653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24344" y="19339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8961120" y="17373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61120" y="1737360"/>
            <a:ext cx="54864" cy="132588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62288" y="190195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COST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62288" y="2267712"/>
            <a:ext cx="21305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$0.006619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985248" y="18653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A56B1F">
              <a:alpha val="95000"/>
            </a:srgbClr>
          </a:solidFill>
          <a:ln w="12700">
            <a:solidFill>
              <a:srgbClr val="A56B1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30968" y="19339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TEST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58368" y="3794760"/>
            <a:ext cx="2002536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4014216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+ suppressed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697480" y="420624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862072" y="3794760"/>
            <a:ext cx="2002536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35224" y="4014216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minimized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901184" y="420624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065776" y="3794760"/>
            <a:ext cx="2002536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38928" y="4014216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schema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104888" y="420624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7269480" y="3794760"/>
            <a:ext cx="2002536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42632" y="4014216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output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9308592" y="420624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9473184" y="3794760"/>
            <a:ext cx="2002536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546336" y="4014216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assignment, score, stage, task, appointment, notification, consent, or communication mutation.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BOUNDARIES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Facts versus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records facts, applies deterministic rules, and labels AI advice before a human acts.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92024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920240"/>
            <a:ext cx="54864" cy="2880360"/>
          </a:xfrm>
          <a:prstGeom prst="rect">
            <a:avLst/>
          </a:prstGeom>
          <a:solidFill>
            <a:srgbClr val="2D7A59"/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FACTS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" y="2450592"/>
            <a:ext cx="21031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fields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evidence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events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29384" y="2048256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75104" y="211683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182112" y="3364992"/>
            <a:ext cx="21945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29000" y="192024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920240"/>
            <a:ext cx="54864" cy="288036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0168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DECISIONS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30168" y="2450592"/>
            <a:ext cx="21031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factors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gate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reason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0016" y="2048256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D5AF58">
              <a:alpha val="95000"/>
            </a:srgbClr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45736" y="211683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5952744" y="3364992"/>
            <a:ext cx="21945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199632" y="192024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99632" y="1920240"/>
            <a:ext cx="54864" cy="2880360"/>
          </a:xfrm>
          <a:prstGeom prst="rect">
            <a:avLst/>
          </a:prstGeom>
          <a:solidFill>
            <a:srgbClr val="A56B1F"/>
          </a:solidFill>
          <a:ln w="12700">
            <a:solidFill>
              <a:srgbClr val="A56B1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RECOMMENDATIONS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2450592"/>
            <a:ext cx="21031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flags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questions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silent action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70648" y="2048256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A56B1F">
              <a:alpha val="95000"/>
            </a:srgbClr>
          </a:solidFill>
          <a:ln w="12700">
            <a:solidFill>
              <a:srgbClr val="A56B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16368" y="211683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ADVISORY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8723376" y="3364992"/>
            <a:ext cx="21945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970264" y="192024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70264" y="1920240"/>
            <a:ext cx="54864" cy="2880360"/>
          </a:xfrm>
          <a:prstGeom prst="rect">
            <a:avLst/>
          </a:prstGeom>
          <a:solidFill>
            <a:srgbClr val="A82E39"/>
          </a:solidFill>
          <a:ln w="12700">
            <a:solidFill>
              <a:srgbClr val="A82E3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71432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ACTIONS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71432" y="2450592"/>
            <a:ext cx="21031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message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stage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241280" y="2048256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A82E39">
              <a:alpha val="95000"/>
            </a:srgbClr>
          </a:solidFill>
          <a:ln w="12700">
            <a:solidFill>
              <a:srgbClr val="A82E3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87000" y="211683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AUDITED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BY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permission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purpose is evaluated separately. Ambiguity fails closed.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19072"/>
          <a:ext cx="10881360" cy="416052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Channel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basis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state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 alert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/ push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assignment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ALLOWED BY CONFIG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Requested-service response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/ phone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Consumer request evidence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APPROVAL REQUIRED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Marketing nurture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/ SMS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Separate marketing permission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Property alerts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/ SMS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subscription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Carrier SMS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Consent + quiet hours + caps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 testing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 inbox only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 + suppressed + allowlist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VERIFIED TEST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 release candidate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mechanics are complete; consumer sending remains disabled.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737360"/>
            <a:ext cx="2487168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3736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HTML + plain text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37944" y="18653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83664" y="19339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COMPLETE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3419856" y="1737360"/>
            <a:ext cx="2487168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19856" y="173736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21024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templates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99432" y="18653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5152" y="19339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COMPLETE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181344" y="1737360"/>
            <a:ext cx="2487168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81344" y="173736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state machine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60920" y="18653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0" y="19339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COMPLETE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8942832" y="1737360"/>
            <a:ext cx="2487168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42832" y="173736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provider events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122408" y="18653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68128" y="19339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COMPLETE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58368" y="3200400"/>
            <a:ext cx="2487168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20040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9536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Quiet hours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837944" y="332841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83664" y="33969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COMPLETE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3419856" y="3200400"/>
            <a:ext cx="2487168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19856" y="320040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21024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caps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99432" y="332841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33969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COMPLETE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6181344" y="3200400"/>
            <a:ext cx="2487168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81344" y="320040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82512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 / STOP / bounce holds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360920" y="332841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06640" y="33969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COMPLETE</a:t>
            </a:r>
            <a:endParaRPr lang="en-US" sz="820" dirty="0"/>
          </a:p>
        </p:txBody>
      </p:sp>
      <p:sp>
        <p:nvSpPr>
          <p:cNvPr id="41" name="Shape 38"/>
          <p:cNvSpPr/>
          <p:nvPr/>
        </p:nvSpPr>
        <p:spPr>
          <a:xfrm>
            <a:off x="8942832" y="3200400"/>
            <a:ext cx="2487168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942832" y="320040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0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bounded retries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122408" y="332841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68128" y="33969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COMPLETE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2148840" y="4892040"/>
            <a:ext cx="7909560" cy="621792"/>
          </a:xfrm>
          <a:prstGeom prst="roundRect">
            <a:avLst/>
          </a:prstGeom>
          <a:solidFill>
            <a:srgbClr val="A82E39"/>
          </a:solidFill>
          <a:ln w="12700">
            <a:solidFill>
              <a:srgbClr val="A82E3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331720" y="5084064"/>
            <a:ext cx="7543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EMAIL • CONSUMER SMS • SCHEDULER • AUTO-SEND — DISABLED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ACCEPTANCE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Brandon-only QA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 proved the provider and inbox path without contacting Mike or a consumer.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73736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37360"/>
            <a:ext cx="54864" cy="3474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190195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MESSAGE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" y="2267712"/>
            <a:ext cx="336499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[TEST — BRANDON QA] Phase 7 messaging release-candidate review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accepted • sent • delivered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and desktop evidence retained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excluded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79776" y="1865376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25496" y="193395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TEST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736592" y="17373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36592" y="1737360"/>
            <a:ext cx="54864" cy="9144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9019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Suppressed test record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76872" y="186537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22592" y="193395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8046720" y="17373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1737360"/>
            <a:ext cx="54864" cy="9144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47888" y="19019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QA allowlist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287000" y="186537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0" y="193395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4736592" y="289864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36592" y="2898648"/>
            <a:ext cx="54864" cy="9144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306324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hidden BCC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76872" y="3026664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22592" y="3095244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8046720" y="289864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46720" y="2898648"/>
            <a:ext cx="54864" cy="9144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47888" y="306324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Mike delivery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287000" y="3026664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332720" y="3095244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4736592" y="4059936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36592" y="4059936"/>
            <a:ext cx="54864" cy="9144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37760" y="422452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consumer delivery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976872" y="4187952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22592" y="425653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8046720" y="4059936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46720" y="4059936"/>
            <a:ext cx="54864" cy="9144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47888" y="422452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carrier SMS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287000" y="4187952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32720" y="425653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20" dirty="0"/>
          </a:p>
        </p:txBody>
      </p:sp>
      <p:sp>
        <p:nvSpPr>
          <p:cNvPr id="42" name="Text 39"/>
          <p:cNvSpPr/>
          <p:nvPr/>
        </p:nvSpPr>
        <p:spPr>
          <a:xfrm>
            <a:off x="4754880" y="52578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QA evidence—not a prospect and not commercial performance.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Center experience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Role-scoped surfaces organize facts, consent, recommendations, messages, and delivery evidence.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7373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73736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019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facts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" y="226771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server-side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50008" y="186537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95728" y="19339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429000" y="17373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73736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30168" y="19019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+ permission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30168" y="226771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server-side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93208" y="186537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38928" y="19339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172200" y="17373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2200" y="173736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3368" y="19019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226771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Advisory label required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836408" y="186537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A56B1F">
              <a:alpha val="95000"/>
            </a:srgbClr>
          </a:solidFill>
          <a:ln w="12700">
            <a:solidFill>
              <a:srgbClr val="A56B1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2128" y="19339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8915400" y="17373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15400" y="173736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16568" y="19019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16568" y="226771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server-side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579608" y="186537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25328" y="19339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85800" y="32461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5800" y="324612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6968" y="3410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preview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86968" y="377647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server-side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350008" y="337413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95728" y="34427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3429000" y="32461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29000" y="324612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30168" y="3410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events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630168" y="377647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server-side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093208" y="337413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38928" y="34427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6172200" y="32461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172200" y="324612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73368" y="3410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history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373368" y="377647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server-side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836408" y="337413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82128" y="34427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8915400" y="32461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915400" y="3246120"/>
            <a:ext cx="54864" cy="118872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116568" y="3410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Test-state visibility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9116568" y="377647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server-side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10579608" y="337413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625328" y="34427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2057400" y="4754880"/>
            <a:ext cx="8092440" cy="822960"/>
          </a:xfrm>
          <a:prstGeom prst="roundRect">
            <a:avLst>
              <a:gd name="adj" fmla="val 8889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057400" y="4754880"/>
            <a:ext cx="54864" cy="82296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258568" y="4919472"/>
            <a:ext cx="7708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AUDIT NOTE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2258568" y="5285232"/>
            <a:ext cx="7708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schema is ready; the browser session expired, so fresh sign-in is required for Phase 8 screenshots.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8979408" y="488289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A56B1F">
              <a:alpha val="95000"/>
            </a:srgbClr>
          </a:solidFill>
          <a:ln w="12700">
            <a:solidFill>
              <a:srgbClr val="A56B1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025128" y="495147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GATE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WORDPRESS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WordPress form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seven Gravity Forms are active in WordPress; only Form 3 is approved for canonical forwarding.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18520" cy="4434840"/>
        </p:xfrm>
        <a:graphic>
          <a:graphicData uri="http://schemas.openxmlformats.org/drawingml/2006/table">
            <a:tbl>
              <a:tblPr/>
              <a:tblGrid>
                <a:gridCol w="2203704"/>
                <a:gridCol w="2203704"/>
                <a:gridCol w="2203704"/>
                <a:gridCol w="2203704"/>
                <a:gridCol w="220370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WP state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Canonical forwarding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Consumer messaging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Contact Us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 Offer Form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 Value Form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prepared_disabled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Join Our Team Form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excluded_recruiting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excluded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Rental Property Search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 Term Home Rentals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Never miss a property!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shadow_not_allowlisted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APPROVAL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3 acknowledgment release gate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form. One transactional purpose. One reversible flag.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1874520"/>
            <a:ext cx="1653540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2093976"/>
            <a:ext cx="1507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3 submitted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11908" y="228600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476500" y="1874520"/>
            <a:ext cx="1653540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49652" y="2093976"/>
            <a:ext cx="1507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lead stored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66616" y="228600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331208" y="1874520"/>
            <a:ext cx="1653540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4360" y="2093976"/>
            <a:ext cx="1507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allowed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21324" y="228600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185916" y="1874520"/>
            <a:ext cx="1653540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59068" y="2093976"/>
            <a:ext cx="1507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template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876032" y="228600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040624" y="1874520"/>
            <a:ext cx="1653540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13776" y="2093976"/>
            <a:ext cx="1507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Resend + webhook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730740" y="228600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95332" y="1874520"/>
            <a:ext cx="1653540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68484" y="2093976"/>
            <a:ext cx="1507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+ rollback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13232" y="33375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" y="3337560"/>
            <a:ext cx="54864" cy="150876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350215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4400" y="3867912"/>
            <a:ext cx="29535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3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test • not suppressed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Transactional acknowledgment only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560320" y="34655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A56B1F">
              <a:alpha val="95000"/>
            </a:srgbClr>
          </a:solidFill>
          <a:ln w="12700">
            <a:solidFill>
              <a:srgbClr val="A56B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06040" y="35341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REQUIRED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4407408" y="33375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07408" y="3337560"/>
            <a:ext cx="54864" cy="150876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08576" y="350215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608576" y="3867912"/>
            <a:ext cx="29535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Bounce + complaint holds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nurture or SMS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254496" y="34655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35341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8101584" y="33375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01584" y="3337560"/>
            <a:ext cx="54864" cy="150876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02752" y="350215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302752" y="3867912"/>
            <a:ext cx="29535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consumer acknowledgment flag false. Lead storage and internal alerts continue.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9948672" y="34655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994392" y="35341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FLAG</a:t>
            </a:r>
            <a:endParaRPr lang="en-US" sz="820" dirty="0"/>
          </a:p>
        </p:txBody>
      </p:sp>
      <p:sp>
        <p:nvSpPr>
          <p:cNvPr id="41" name="Text 38"/>
          <p:cNvSpPr/>
          <p:nvPr/>
        </p:nvSpPr>
        <p:spPr>
          <a:xfrm>
            <a:off x="1828800" y="5257800"/>
            <a:ext cx="8549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FORM 3 CONSUMER ACKNOWLEDGMENT EMAIL PILOT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Economics and measurement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commercial performance is zero. Planning inputs remain editable and clearly labeled.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737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37360"/>
            <a:ext cx="54864" cy="13716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19019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PERFORMANCE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" y="224028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859536" y="2852928"/>
            <a:ext cx="2999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genuine lead or attributed closing yet.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34056" y="18653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79776" y="19339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ZERO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407408" y="1737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7408" y="1737360"/>
            <a:ext cx="54864" cy="13716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8576" y="19019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ACCEPTANCE COST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08576" y="224028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$0.006619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4608576" y="2852928"/>
            <a:ext cx="2999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synthetic test; not a monthly forecast.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00216" y="18653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19339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8156448" y="1737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56448" y="1737360"/>
            <a:ext cx="54864" cy="13716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57616" y="19019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57616" y="224028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900" dirty="0"/>
          </a:p>
        </p:txBody>
      </p:sp>
      <p:sp>
        <p:nvSpPr>
          <p:cNvPr id="24" name="Text 21"/>
          <p:cNvSpPr/>
          <p:nvPr/>
        </p:nvSpPr>
        <p:spPr>
          <a:xfrm>
            <a:off x="8357616" y="2852928"/>
            <a:ext cx="2999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paid launch authorized.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049256" y="186537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94976" y="19339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868680" y="3657600"/>
            <a:ext cx="105156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57175" indent="-257175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source → qualified lead → appointment → closing after the first genuine lead.</a:t>
            </a:r>
            <a:endParaRPr lang="en-US" sz="1350" dirty="0"/>
          </a:p>
          <a:p>
            <a:pPr marL="257175" indent="-257175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QA excluded from CPL, conversion, SLA, and revenue KPIs.</a:t>
            </a:r>
            <a:endParaRPr lang="en-US" sz="1350" dirty="0"/>
          </a:p>
          <a:p>
            <a:pPr marL="257175" indent="-257175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editable commission assumptions with verified brokerage economics before spend.</a:t>
            </a:r>
            <a:endParaRPr lang="en-US" sz="1350" dirty="0"/>
          </a:p>
          <a:p>
            <a:pPr marL="257175" indent="-257175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provider account risk before promising reliable consumer delivery.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3152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editable evidence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Brandon-only previews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authorizing any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automation.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75320" y="13258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75320" y="132588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76488" y="149047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76488" y="1856232"/>
            <a:ext cx="2770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and healthy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48088" y="14538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93808" y="152247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LIVE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275320" y="26974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269748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6488" y="286207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76488" y="3227832"/>
            <a:ext cx="2770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+ reproducible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39528" y="282549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5AF58">
              <a:alpha val="95000"/>
            </a:srgbClr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85248" y="289407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275320" y="40690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4069080"/>
            <a:ext cx="54864" cy="1143000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423367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SEND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76488" y="4599432"/>
            <a:ext cx="2770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disabled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168128" y="4197096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A82E39">
              <a:alpha val="95000"/>
            </a:srgbClr>
          </a:solidFill>
          <a:ln w="12700">
            <a:solidFill>
              <a:srgbClr val="A82E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3848" y="426567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GATE</a:t>
            </a:r>
            <a:endParaRPr lang="en-US" sz="820" dirty="0"/>
          </a:p>
        </p:txBody>
      </p:sp>
      <p:pic>
        <p:nvPicPr>
          <p:cNvPr id="22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66360"/>
            <a:ext cx="2148840" cy="7132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Our Town Properties,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Magic Mike Phase 8 Executive Presentation</dc:title>
  <dc:subject>Editable current-state and release-gate evidence</dc:subject>
  <dc:creator>Our Town Properties / Ask Magic Mike</dc:creator>
  <cp:lastModifiedBy>Our Town Properties / Ask Magic Mike</cp:lastModifiedBy>
  <cp:revision>1</cp:revision>
  <dcterms:created xsi:type="dcterms:W3CDTF">2026-08-18T22:50:13Z</dcterms:created>
  <dcterms:modified xsi:type="dcterms:W3CDTF">2026-08-18T22:50:13Z</dcterms:modified>
</cp:coreProperties>
</file>