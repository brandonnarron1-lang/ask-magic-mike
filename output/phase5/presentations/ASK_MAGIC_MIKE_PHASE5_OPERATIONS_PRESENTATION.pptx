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D9A441"/>
            </a:solidFill>
          </c:spPr>
          <c:cat>
            <c:strRef>
              <c:f>Sheet1!$A$2:$A$4</c:f>
              <c:strCache>
                <c:ptCount val="3"/>
                <c:pt idx="0">
                  <c:v>Genuine live</c:v>
                </c:pt>
                <c:pt idx="1">
                  <c:v>Suppressed QA</c:v>
                </c:pt>
                <c:pt idx="2">
                  <c:v>QA in Active/New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6</c:v>
                </c:pt>
                <c:pt idx="2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rgbClr val="B4B4B8"/>
                </a:solidFill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operating result: the system is live and monitored, while zero genuine leads remains an honest current state.</a:t>
            </a:r>
          </a:p>
          <a:p/>
          <a:p>
            <a:r>
              <a:t>[Sources]</a:t>
            </a:r>
          </a:p>
          <a:p>
            <a:r>
              <a:t>- docs/PHASE5_PRECHANGE_PRODUCTION_SNAPSHOT.md</a:t>
            </a:r>
          </a:p>
          <a:p>
            <a:r>
              <a:t>- docs/PHASE5_RELEASE_NOTES.md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only evidence already verified against authenticated production accounts and public health checks.</a:t>
            </a:r>
          </a:p>
          <a:p/>
          <a:p>
            <a:r>
              <a:t>[Sources]</a:t>
            </a:r>
          </a:p>
          <a:p>
            <a:r>
              <a:t>- docs/PHASE5_PRECHANGE_PRODUCTION_SNAPSHOT.md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six QA records are intentionally retained evidence, not deleted records and not sales opportunities.</a:t>
            </a:r>
          </a:p>
          <a:p/>
          <a:p>
            <a:r>
              <a:t>[Sources]</a:t>
            </a:r>
          </a:p>
          <a:p>
            <a:r>
              <a:t>- docs/LEAD_QUEUE_INVARIANTS.md</a:t>
            </a:r>
          </a:p>
          <a:p>
            <a:r>
              <a:t>- docs/PHASE5_PRECHANGE_PRODUCTION_SNAPSHOT.md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signed-in evidence without displaying private lead details or treating the design board as production proof.</a:t>
            </a:r>
          </a:p>
          <a:p/>
          <a:p>
            <a:r>
              <a:t>[Sources]</a:t>
            </a:r>
          </a:p>
          <a:p>
            <a:r>
              <a:t>- docs/PHASE5_PRECHANGE_PRODUCTION_SNAPSHOT.md</a:t>
            </a:r>
          </a:p>
          <a:p>
            <a:r>
              <a:t>- tests/adminops/neon-reporting-exclusions.test.ts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operational enablement, not an identity or credential disclosure. Do not show reset links, cookies, or session tokens.</a:t>
            </a:r>
          </a:p>
          <a:p/>
          <a:p>
            <a:r>
              <a:t>[Sources]</a:t>
            </a:r>
          </a:p>
          <a:p>
            <a:r>
              <a:t>- docs/BRANDON_OPERATOR_ACTIVATION_STATUS.md</a:t>
            </a:r>
          </a:p>
          <a:p>
            <a:r>
              <a:t>- docs/BRANDON_WEB_PUSH_ENROLLMENT.md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exact next action is Mike choosing his own password through a valid private activation flow.</a:t>
            </a:r>
          </a:p>
          <a:p/>
          <a:p>
            <a:r>
              <a:t>[Sources]</a:t>
            </a:r>
          </a:p>
          <a:p>
            <a:r>
              <a:t>- docs/MIKE_PRIMARY_OWNER_ACTIVATION_STATUS.md</a:t>
            </a:r>
          </a:p>
          <a:p>
            <a:r>
              <a:t>- docs/MIKE_WEB_PUSH_ENROLLMENT.md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right. Storage precedes every notification; QA classification requires explicit evidence; customer action follows consent.</a:t>
            </a:r>
          </a:p>
          <a:p/>
          <a:p>
            <a:r>
              <a:t>[Sources]</a:t>
            </a:r>
          </a:p>
          <a:p>
            <a:r>
              <a:t>- docs/FIRST_LIVE_LEAD_RESPONSE_RUNBOOK.md</a:t>
            </a:r>
          </a:p>
          <a:p>
            <a:r>
              <a:t>- docs/LEAD_QUEUE_INVARIANTS.md</a:t>
            </a:r>
          </a:p>
          <a:p>
            <a:r>
              <a:t>- src/lib/operations/first-live-lead-monitor.ts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 4 is not a consumer lead form. Entry 1550 remains protected and is never repurposed for QA.</a:t>
            </a:r>
          </a:p>
          <a:p/>
          <a:p>
            <a:r>
              <a:t>[Sources]</a:t>
            </a:r>
          </a:p>
          <a:p>
            <a:r>
              <a:t>- docs/GRAVITY_FORMS_BIC_APPROVAL_PACKET.md</a:t>
            </a:r>
          </a:p>
          <a:p>
            <a:r>
              <a:t>- docs/PHASE5_PRECHANGE_PRODUCTION_SNAPSHOT.md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notification image is an approved visual template, not evidence of a genuine lead or delivered message.</a:t>
            </a:r>
          </a:p>
          <a:p/>
          <a:p>
            <a:r>
              <a:t>[Sources]</a:t>
            </a:r>
          </a:p>
          <a:p>
            <a:r>
              <a:t>- docs/EMAIL_DELIVERY_SPEC.md</a:t>
            </a:r>
          </a:p>
          <a:p>
            <a:r>
              <a:t>- docs/WEB_PUSH_DEVICE_REGISTER.csv</a:t>
            </a:r>
          </a:p>
          <a:p>
            <a:r>
              <a:t>- public/images/ask-magic-mike/notifications/lead-alert-new-v2.png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Targets are internal operating controls, not consumer-facing guarantees.</a:t>
            </a:r>
          </a:p>
          <a:p/>
          <a:p>
            <a:r>
              <a:t>[Sources]</a:t>
            </a:r>
          </a:p>
          <a:p>
            <a:r>
              <a:t>- vercel.json</a:t>
            </a:r>
          </a:p>
          <a:p>
            <a:r>
              <a:t>- docs/INCIDENT_ESCALATION_MATRIX.csv</a:t>
            </a:r>
          </a:p>
          <a:p>
            <a:r>
              <a:t>- src/lib/operations/first-live-lead-monitor.ts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social, GBP, email, or print asset is represented as published. All links remain staged until approval.</a:t>
            </a:r>
          </a:p>
          <a:p/>
          <a:p>
            <a:r>
              <a:t>[Sources]</a:t>
            </a:r>
          </a:p>
          <a:p>
            <a:r>
              <a:t>- docs/ASK_MAGIC_MIKE_UTM_LINK_LIBRARY.csv</a:t>
            </a:r>
          </a:p>
          <a:p>
            <a:r>
              <a:t>- docs/ZERO_SPEND_CONTENT_APPROVAL_QUEUE.csv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Business outcomes are recorded only when they occur. Assumptions remain visibly separate from evidence.</a:t>
            </a:r>
          </a:p>
          <a:p/>
          <a:p>
            <a:r>
              <a:t>[Sources]</a:t>
            </a:r>
          </a:p>
          <a:p>
            <a:r>
              <a:t>- output/phase5/spreadsheets/ASK_MAGIC_MIKE_DAY1_OPERATIONS_REPORT.xlsx</a:t>
            </a:r>
          </a:p>
          <a:p>
            <a:r>
              <a:t>- output/phase5/spreadsheets/ASK_MAGIC_MIKE_7_DAY_OPERATIONS_REPORT.xlsx</a:t>
            </a:r>
          </a:p>
          <a:p>
            <a:r>
              <a:t>- output/phase5/spreadsheets/EVIDENCE_AND_ASSUMPTION_REGISTER.xlsx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one precise, unavoidable human action and make clear that it does not block public lead capture.</a:t>
            </a:r>
          </a:p>
          <a:p/>
          <a:p>
            <a:r>
              <a:t>[Sources]</a:t>
            </a:r>
          </a:p>
          <a:p>
            <a:r>
              <a:t>- docs/MIKE_PRIMARY_OWNER_ACTIVATION_STATUS.md</a:t>
            </a:r>
          </a:p>
          <a:p>
            <a:r>
              <a:t>- docs/PHASE5_PRECHANGE_PRODUCTION_SNAPSHOT.md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-home-deskt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0"/>
            <a:ext cx="4919472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269480" y="6807708"/>
            <a:ext cx="4919472" cy="502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our-town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2011680" cy="8504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82880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9A441"/>
                </a:solidFill>
                <a:latin typeface="Aptos"/>
              </a:rPr>
              <a:t>PHASE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12848"/>
            <a:ext cx="58521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Aptos"/>
              </a:rPr>
              <a:t>Live operations
and controlled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544068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6E8BF"/>
                </a:solidFill>
                <a:latin typeface="Aptos"/>
              </a:rPr>
              <a:t>A clean queue, protected first-lead handling, and an evidence-first operating cadence.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05332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4B8"/>
                </a:solidFill>
                <a:latin typeface="Aptos"/>
              </a:rPr>
              <a:t>Verified August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The system is live and the evidence is current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11680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4B469"/>
                </a:solidFill>
                <a:latin typeface="Aptos"/>
              </a:rP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1518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VERCEL PRODUCTION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011680"/>
            <a:ext cx="19202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4B469"/>
                </a:solidFill>
                <a:latin typeface="Aptos"/>
              </a:rPr>
              <a:t>9 / 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15184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PUBLIC 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2011680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4B469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2615184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THREE-HOUR RUNTIME ERRORS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2011680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2615184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CANONICAL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2011680"/>
            <a:ext cx="164592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29800" y="2615184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CANONICAL 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B4B8"/>
                </a:solidFill>
                <a:latin typeface="Aptos"/>
              </a:rPr>
              <a:t>Production commit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33087"/>
            <a:ext cx="6766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e754456cecaf6538df25bb4bf5eebe57ebf6eacb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731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B4B8"/>
                </a:solidFill>
                <a:latin typeface="Aptos"/>
              </a:rPr>
              <a:t>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02352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dpl_3ogimm1EhHCaPkEfXLAeojrm2H8Z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7947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B4B8"/>
                </a:solidFill>
                <a:latin typeface="Aptos"/>
              </a:rPr>
              <a:t>Neon production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4133087"/>
            <a:ext cx="33832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bitter-star-20214385
br-round-base-auh6h2wd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A clean live queue is now a release invariant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85800" y="1874519"/>
          <a:ext cx="576072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903720" y="1993392"/>
            <a:ext cx="452628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TEST badge remains visible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Creation timestamps remain truthful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No QA record can be STALLED or ROUTING READY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Test and suppressed records are excluded from live reporting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Explicit evidence is required before classifying a lead as QA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The signed-in audit closed misleading states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04</a:t>
            </a:r>
          </a:p>
        </p:txBody>
      </p:sp>
      <p:pic>
        <p:nvPicPr>
          <p:cNvPr id="9" name="Picture 8" descr="brand-board-v2-w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1755648"/>
            <a:ext cx="3611880" cy="4251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09560" y="5957316"/>
            <a:ext cx="3611880" cy="502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2066544"/>
            <a:ext cx="146304" cy="146304"/>
          </a:xfrm>
          <a:prstGeom prst="ellipse">
            <a:avLst/>
          </a:prstGeom>
          <a:solidFill>
            <a:srgbClr val="44B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19933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Active/New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9339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B469"/>
                </a:solidFill>
                <a:latin typeface="Aptos"/>
              </a:rPr>
              <a:t>CLEAN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993392"/>
            <a:ext cx="5577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4B8"/>
                </a:solidFill>
                <a:latin typeface="Aptos"/>
              </a:rPr>
              <a:t>Zero QA or suppressed records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2779776"/>
            <a:ext cx="146304" cy="146304"/>
          </a:xfrm>
          <a:prstGeom prst="ellipse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70662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Closed/Test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0662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A441"/>
                </a:solidFill>
                <a:latin typeface="Aptos"/>
              </a:rPr>
              <a:t>PRESERVED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06624"/>
            <a:ext cx="5577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4B8"/>
                </a:solidFill>
                <a:latin typeface="Aptos"/>
              </a:rPr>
              <a:t>Six TEST-badged records with valid timestamps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" y="3493008"/>
            <a:ext cx="146304" cy="146304"/>
          </a:xfrm>
          <a:prstGeom prst="ellipse">
            <a:avLst/>
          </a:prstGeom>
          <a:solidFill>
            <a:srgbClr val="44B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41985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Stalled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41985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B469"/>
                </a:solidFill>
                <a:latin typeface="Aptos"/>
              </a:rPr>
              <a:t>CLEAR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419856"/>
            <a:ext cx="5577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4B8"/>
                </a:solidFill>
                <a:latin typeface="Aptos"/>
              </a:rPr>
              <a:t>No QA-derived escalation state</a:t>
            </a:r>
          </a:p>
        </p:txBody>
      </p:sp>
      <p:sp>
        <p:nvSpPr>
          <p:cNvPr id="23" name="Oval 22"/>
          <p:cNvSpPr/>
          <p:nvPr/>
        </p:nvSpPr>
        <p:spPr>
          <a:xfrm>
            <a:off x="694944" y="4206240"/>
            <a:ext cx="146304" cy="146304"/>
          </a:xfrm>
          <a:prstGeom prst="ellipse">
            <a:avLst/>
          </a:prstGeom>
          <a:solidFill>
            <a:srgbClr val="44B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133087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Routing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133087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B469"/>
                </a:solidFill>
                <a:latin typeface="Aptos"/>
              </a:rPr>
              <a:t>CLEAR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133087"/>
            <a:ext cx="5577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4B8"/>
                </a:solidFill>
                <a:latin typeface="Aptos"/>
              </a:rPr>
              <a:t>No QA-derived routing signal</a:t>
            </a:r>
          </a:p>
        </p:txBody>
      </p:sp>
      <p:sp>
        <p:nvSpPr>
          <p:cNvPr id="27" name="Oval 26"/>
          <p:cNvSpPr/>
          <p:nvPr/>
        </p:nvSpPr>
        <p:spPr>
          <a:xfrm>
            <a:off x="694944" y="4919472"/>
            <a:ext cx="146304" cy="146304"/>
          </a:xfrm>
          <a:prstGeom prst="ellipse">
            <a:avLst/>
          </a:prstGeom>
          <a:solidFill>
            <a:srgbClr val="44B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484632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Live reporting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84632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B469"/>
                </a:solidFill>
                <a:latin typeface="Aptos"/>
              </a:rPr>
              <a:t>PROTECTED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846320"/>
            <a:ext cx="55778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4B4B8"/>
                </a:solidFill>
                <a:latin typeface="Aptos"/>
              </a:rPr>
              <a:t>Defensive live-ID filtering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Brandon can operate the Lead Center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05</a:t>
            </a:r>
          </a:p>
        </p:txBody>
      </p:sp>
      <p:pic>
        <p:nvPicPr>
          <p:cNvPr id="9" name="Picture 8" descr="chat-widget-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755648"/>
            <a:ext cx="3429000" cy="4480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73568" y="6185916"/>
            <a:ext cx="3429000" cy="502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6537960" cy="4160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Administrator role verified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Email ownership verified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Password credential present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Authenticated Lead Center access confirmed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Can review queue, assignments, notification state, and audit history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Web Push remains a physical browser-permission step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Mike is provisioned; one private step remains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06</a:t>
            </a:r>
          </a:p>
        </p:txBody>
      </p:sp>
      <p:pic>
        <p:nvPicPr>
          <p:cNvPr id="9" name="Picture 8" descr="mike-headshot-sou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755648"/>
            <a:ext cx="3429000" cy="44805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973568" y="6185916"/>
            <a:ext cx="3429000" cy="502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93392"/>
            <a:ext cx="237744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9689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LEAD OWNER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93392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59689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ACTIVE SESSIONS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9240" y="1993392"/>
            <a:ext cx="2194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E2A23A"/>
                </a:solidFill>
                <a:latin typeface="Aptos"/>
              </a:rPr>
              <a:t>PENDING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259689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PRIVATE PASSWORD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94760"/>
            <a:ext cx="635508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No password was chosen for Mike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No reset token appears in shared evidence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Email notifications continue independently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After private activation, Mike can enroll one primary Push device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The first real lead follows one protected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1984248" y="3246120"/>
            <a:ext cx="59436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04487" y="3246120"/>
            <a:ext cx="59436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24728" y="3246120"/>
            <a:ext cx="59436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44967" y="3246120"/>
            <a:ext cx="59436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665207" y="3246120"/>
            <a:ext cx="594360" cy="32004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58368" y="2542032"/>
            <a:ext cx="1325880" cy="1325880"/>
          </a:xfrm>
          <a:prstGeom prst="ellipse">
            <a:avLst/>
          </a:prstGeom>
          <a:solidFill>
            <a:srgbClr val="1C1C1E"/>
          </a:solidFill>
          <a:ln w="254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81635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A441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0965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44805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4B8"/>
                </a:solidFill>
                <a:latin typeface="Aptos"/>
              </a:rPr>
              <a:t>Durable Neon record</a:t>
            </a:r>
          </a:p>
        </p:txBody>
      </p:sp>
      <p:sp>
        <p:nvSpPr>
          <p:cNvPr id="18" name="Oval 17"/>
          <p:cNvSpPr/>
          <p:nvPr/>
        </p:nvSpPr>
        <p:spPr>
          <a:xfrm>
            <a:off x="2578608" y="2542032"/>
            <a:ext cx="1325880" cy="1325880"/>
          </a:xfrm>
          <a:prstGeom prst="ellipse">
            <a:avLst/>
          </a:prstGeom>
          <a:solidFill>
            <a:srgbClr val="1C1C1E"/>
          </a:solidFill>
          <a:ln w="254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8608" y="281635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A441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7" y="40965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CLASSIFY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0008" y="44805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4B8"/>
                </a:solidFill>
                <a:latin typeface="Aptos"/>
              </a:rPr>
              <a:t>Explicit live/test evidence</a:t>
            </a:r>
          </a:p>
        </p:txBody>
      </p:sp>
      <p:sp>
        <p:nvSpPr>
          <p:cNvPr id="22" name="Oval 21"/>
          <p:cNvSpPr/>
          <p:nvPr/>
        </p:nvSpPr>
        <p:spPr>
          <a:xfrm>
            <a:off x="4498848" y="2542032"/>
            <a:ext cx="1325880" cy="1325880"/>
          </a:xfrm>
          <a:prstGeom prst="ellipse">
            <a:avLst/>
          </a:prstGeom>
          <a:solidFill>
            <a:srgbClr val="1C1C1E"/>
          </a:solidFill>
          <a:ln w="254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281635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A441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15968" y="40965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70248" y="44805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4B8"/>
                </a:solidFill>
                <a:latin typeface="Aptos"/>
              </a:rPr>
              <a:t>Deterministic factors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2542032"/>
            <a:ext cx="1325880" cy="1325880"/>
          </a:xfrm>
          <a:prstGeom prst="ellipse">
            <a:avLst/>
          </a:prstGeom>
          <a:solidFill>
            <a:srgbClr val="1C1C1E"/>
          </a:solidFill>
          <a:ln w="254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81635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A441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6207" y="40965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ASSIGN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0488" y="44805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4B8"/>
                </a:solidFill>
                <a:latin typeface="Aptos"/>
              </a:rPr>
              <a:t>Approved owner + reason</a:t>
            </a:r>
          </a:p>
        </p:txBody>
      </p:sp>
      <p:sp>
        <p:nvSpPr>
          <p:cNvPr id="30" name="Oval 29"/>
          <p:cNvSpPr/>
          <p:nvPr/>
        </p:nvSpPr>
        <p:spPr>
          <a:xfrm>
            <a:off x="8339327" y="2542032"/>
            <a:ext cx="1325880" cy="1325880"/>
          </a:xfrm>
          <a:prstGeom prst="ellipse">
            <a:avLst/>
          </a:prstGeom>
          <a:solidFill>
            <a:srgbClr val="1C1C1E"/>
          </a:solidFill>
          <a:ln w="254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281635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A441"/>
                </a:solidFill>
                <a:latin typeface="Aptos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40965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NOTIFY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7" y="44805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4B8"/>
                </a:solidFill>
                <a:latin typeface="Aptos"/>
              </a:rPr>
              <a:t>Email + optional Push</a:t>
            </a:r>
          </a:p>
        </p:txBody>
      </p:sp>
      <p:sp>
        <p:nvSpPr>
          <p:cNvPr id="34" name="Oval 33"/>
          <p:cNvSpPr/>
          <p:nvPr/>
        </p:nvSpPr>
        <p:spPr>
          <a:xfrm>
            <a:off x="10259568" y="2542032"/>
            <a:ext cx="1325880" cy="1325880"/>
          </a:xfrm>
          <a:prstGeom prst="ellipse">
            <a:avLst/>
          </a:prstGeom>
          <a:solidFill>
            <a:srgbClr val="1C1C1E"/>
          </a:solidFill>
          <a:ln w="25400">
            <a:solidFill>
              <a:srgbClr val="D9A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9568" y="2816352"/>
            <a:ext cx="132588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A441"/>
                </a:solidFill>
                <a:latin typeface="Aptos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76688" y="4096512"/>
            <a:ext cx="1691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RESPOND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0968" y="4480560"/>
            <a:ext cx="178308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B4B4B8"/>
                </a:solidFill>
                <a:latin typeface="Aptos"/>
              </a:rPr>
              <a:t>Consent-permitted human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5705856"/>
            <a:ext cx="99669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E8BF"/>
                </a:solidFill>
                <a:latin typeface="Aptos"/>
              </a:rPr>
              <a:t>No fabricated prospect  •  no carrier SMS  •  no public response-time promise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Form 3 stays live; held forms advance one at a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90195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A441"/>
                </a:solidFill>
                <a:latin typeface="Aptos"/>
              </a:rPr>
              <a:t>FORM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90195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0368" y="1901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A23A"/>
                </a:solidFill>
                <a:latin typeface="Aptos"/>
              </a:rPr>
              <a:t>HELD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90195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4B4B8"/>
                </a:solidFill>
                <a:latin typeface="Aptos"/>
              </a:rPr>
              <a:t>No canonical activation without BIC/owner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6888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A441"/>
                </a:solidFill>
                <a:latin typeface="Aptos"/>
              </a:rPr>
              <a:t>FORM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29968" y="246888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Seller options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246888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A23A"/>
                </a:solidFill>
                <a:latin typeface="Aptos"/>
              </a:rPr>
              <a:t>HELD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46888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4B4B8"/>
                </a:solidFill>
                <a:latin typeface="Aptos"/>
              </a:rPr>
              <a:t>No canonical activation without BIC/owner 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035808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A441"/>
                </a:solidFill>
                <a:latin typeface="Aptos"/>
              </a:rPr>
              <a:t>FORM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3035808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Home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035808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44B469"/>
                </a:solidFill>
                <a:latin typeface="Aptos"/>
              </a:rPr>
              <a:t>ACTIVE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035808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4B4B8"/>
                </a:solidFill>
                <a:latin typeface="Aptos"/>
              </a:rPr>
              <a:t>Signed bridge; native duplicate alert inactive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602736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A441"/>
                </a:solidFill>
                <a:latin typeface="Aptos"/>
              </a:rPr>
              <a:t>FORM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3602736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Recruiting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0368" y="3602736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4B4B8"/>
                </a:solidFill>
                <a:latin typeface="Aptos"/>
              </a:rPr>
              <a:t>SEPARATE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3602736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4B4B8"/>
                </a:solidFill>
                <a:latin typeface="Aptos"/>
              </a:rPr>
              <a:t>No canonical activation without BIC/owner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4169664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A441"/>
                </a:solidFill>
                <a:latin typeface="Aptos"/>
              </a:rPr>
              <a:t>FORM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29968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Rental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4169664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A23A"/>
                </a:solidFill>
                <a:latin typeface="Aptos"/>
              </a:rPr>
              <a:t>HELD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169664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4B4B8"/>
                </a:solidFill>
                <a:latin typeface="Aptos"/>
              </a:rPr>
              <a:t>No canonical activation without BIC/owner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736592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A441"/>
                </a:solidFill>
                <a:latin typeface="Aptos"/>
              </a:rPr>
              <a:t>FORM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9968" y="4736592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Short-term rental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30368" y="473659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2A23A"/>
                </a:solidFill>
                <a:latin typeface="Aptos"/>
              </a:rPr>
              <a:t>HELD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4736592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4B4B8"/>
                </a:solidFill>
                <a:latin typeface="Aptos"/>
              </a:rPr>
              <a:t>No canonical activation without BIC/owner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5303520"/>
            <a:ext cx="1188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9A441"/>
                </a:solidFill>
                <a:latin typeface="Aptos"/>
              </a:rPr>
              <a:t>FORM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29968" y="5303520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Property 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30368" y="530352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64B4B"/>
                </a:solidFill>
                <a:latin typeface="Aptos"/>
              </a:rPr>
              <a:t>LEGAL 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5303520"/>
            <a:ext cx="45720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B4B4B8"/>
                </a:solidFill>
                <a:latin typeface="Aptos"/>
              </a:rPr>
              <a:t>Protected entry 1550; no retroactive subscription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Email is primary; Push follows physical enrollment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09</a:t>
            </a:r>
          </a:p>
        </p:txBody>
      </p:sp>
      <p:pic>
        <p:nvPicPr>
          <p:cNvPr id="9" name="Picture 8" descr="lead-alert-frame-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792224"/>
            <a:ext cx="3364992" cy="437083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01000" y="6112764"/>
            <a:ext cx="3364992" cy="502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94944" y="2066544"/>
            <a:ext cx="146304" cy="146304"/>
          </a:xfrm>
          <a:prstGeom prst="ellipse">
            <a:avLst/>
          </a:prstGeom>
          <a:solidFill>
            <a:srgbClr val="44B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199339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Internal email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993392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B469"/>
                </a:solidFill>
                <a:latin typeface="Aptos"/>
              </a:rPr>
              <a:t>WIRED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993392"/>
            <a:ext cx="2057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4B4B8"/>
                </a:solidFill>
                <a:latin typeface="Aptos"/>
              </a:rPr>
              <a:t>Durable outbox + bounded retry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" y="2871216"/>
            <a:ext cx="146304" cy="146304"/>
          </a:xfrm>
          <a:prstGeom prst="ellipse">
            <a:avLst/>
          </a:prstGeom>
          <a:solidFill>
            <a:srgbClr val="44B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2798064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Audit BCC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798064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44B469"/>
                </a:solidFill>
                <a:latin typeface="Aptos"/>
              </a:rPr>
              <a:t>PROTECTED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2798064"/>
            <a:ext cx="2057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4B4B8"/>
                </a:solidFill>
                <a:latin typeface="Aptos"/>
              </a:rPr>
              <a:t>Securely configured; never displayed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" y="3675887"/>
            <a:ext cx="146304" cy="146304"/>
          </a:xfrm>
          <a:prstGeom prst="ellipse">
            <a:avLst/>
          </a:prstGeom>
          <a:solidFill>
            <a:srgbClr val="E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3602736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Brandon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602736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A23A"/>
                </a:solidFill>
                <a:latin typeface="Aptos"/>
              </a:rPr>
              <a:t>PENDING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3602736"/>
            <a:ext cx="2057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4B4B8"/>
                </a:solidFill>
                <a:latin typeface="Aptos"/>
              </a:rPr>
              <a:t>Physical browser permission</a:t>
            </a:r>
          </a:p>
        </p:txBody>
      </p:sp>
      <p:sp>
        <p:nvSpPr>
          <p:cNvPr id="23" name="Oval 22"/>
          <p:cNvSpPr/>
          <p:nvPr/>
        </p:nvSpPr>
        <p:spPr>
          <a:xfrm>
            <a:off x="694944" y="4480560"/>
            <a:ext cx="146304" cy="146304"/>
          </a:xfrm>
          <a:prstGeom prst="ellipse">
            <a:avLst/>
          </a:prstGeom>
          <a:solidFill>
            <a:srgbClr val="E2A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4" y="4407408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Mike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407408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2A23A"/>
                </a:solidFill>
                <a:latin typeface="Aptos"/>
              </a:rPr>
              <a:t>PENDING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07408"/>
            <a:ext cx="2057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4B4B8"/>
                </a:solidFill>
                <a:latin typeface="Aptos"/>
              </a:rPr>
              <a:t>Private login, then permission</a:t>
            </a:r>
          </a:p>
        </p:txBody>
      </p:sp>
      <p:sp>
        <p:nvSpPr>
          <p:cNvPr id="27" name="Oval 26"/>
          <p:cNvSpPr/>
          <p:nvPr/>
        </p:nvSpPr>
        <p:spPr>
          <a:xfrm>
            <a:off x="694944" y="5285232"/>
            <a:ext cx="146304" cy="146304"/>
          </a:xfrm>
          <a:prstGeom prst="ellipse">
            <a:avLst/>
          </a:prstGeom>
          <a:solidFill>
            <a:srgbClr val="B4B4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" y="521208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Carrier SMS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521208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4B4B8"/>
                </a:solidFill>
                <a:latin typeface="Aptos"/>
              </a:rPr>
              <a:t>DISABLED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5212080"/>
            <a:ext cx="205740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B4B4B8"/>
                </a:solidFill>
                <a:latin typeface="Aptos"/>
              </a:rPr>
              <a:t>No unsafe free-SMS workaround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Monitors protect the live path without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22860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2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05456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FIRST-LIVE RECONCILIATION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901952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1 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50545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SLA SWEEP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1901952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D9A441"/>
                </a:solidFill>
                <a:latin typeface="Aptos"/>
              </a:rPr>
              <a:t>1 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8384" y="250545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PUBLIC SYNTHETIC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71231" y="1901952"/>
            <a:ext cx="201168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4B469"/>
                </a:solidFill>
                <a:latin typeface="Aptos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2505456"/>
            <a:ext cx="2011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CURRENT LIVE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920" y="1901952"/>
            <a:ext cx="182880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44B469"/>
                </a:solidFill>
                <a:latin typeface="Aptos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46920" y="2505456"/>
            <a:ext cx="1828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B4B4B8"/>
                </a:solidFill>
                <a:latin typeface="Aptos"/>
              </a:rPr>
              <a:t>TLS WARNINGS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86200"/>
            <a:ext cx="105156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Unassigned live leads escalate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Failed live notifications remain visible and retry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Unsuppressed QA makes first-live cron unhealthy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Routine all-clear messages are suppressed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  <a:latin typeface="Aptos"/>
              </a:defRPr>
            </a:pPr>
            <a:r>
              <a:t>•  Correlation IDs support private diagnosis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Owned traffic can grow without paid media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11</a:t>
            </a:r>
          </a:p>
        </p:txBody>
      </p:sp>
      <p:pic>
        <p:nvPicPr>
          <p:cNvPr id="9" name="Picture 8" descr="hero-social-4x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792224"/>
            <a:ext cx="3273552" cy="44074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65008" y="6149340"/>
            <a:ext cx="3273552" cy="502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01952"/>
            <a:ext cx="6492240" cy="3474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14 tagged placements staged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UTM source, medium, campaign, and placement standardized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QR package covers web, social, print, listing, rental, and open-house contexts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Thirty-day content queue remains draft until BIC/content approval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Aptos"/>
              </a:defRPr>
            </a:pPr>
            <a:r>
              <a:t>•  Paid media remains inactive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596128"/>
            <a:ext cx="61264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6E8BF"/>
                </a:solidFill>
                <a:latin typeface="Aptos"/>
              </a:rPr>
              <a:t>EXTERNAL PROMOTIONAL ASSETS PUBLISHED: 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Reports measure outcomes, not activity theater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01952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9A441"/>
                </a:solidFill>
                <a:latin typeface="Aptos"/>
              </a:rPr>
              <a:t>LEADS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37744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Genuine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1901952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9A441"/>
                </a:solidFill>
                <a:latin typeface="Aptos"/>
              </a:rP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37744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Assignment + contact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901952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9A441"/>
                </a:solidFill>
                <a:latin typeface="Aptos"/>
              </a:rPr>
              <a:t>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2377440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Score + qualification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803904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9A441"/>
                </a:solidFill>
                <a:latin typeface="Aptos"/>
              </a:rPr>
              <a:t>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279392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Provider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803904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9A441"/>
                </a:solidFill>
                <a:latin typeface="Aptos"/>
              </a:rP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279392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First + last touch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803904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D9A441"/>
                </a:solidFill>
                <a:latin typeface="Aptos"/>
              </a:rPr>
              <a:t>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4279392"/>
            <a:ext cx="3154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FFFFFF"/>
                </a:solidFill>
                <a:latin typeface="Aptos"/>
              </a:rPr>
              <a:t>Appointments to closings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05272"/>
            <a:ext cx="10698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6E8BF"/>
                </a:solidFill>
                <a:latin typeface="Aptos"/>
              </a:rPr>
              <a:t>Day 1 establishes control. Day 7 shows operating reliability. Day 30 supports the next evidence-based decision.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808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our-tow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29184"/>
            <a:ext cx="1645920" cy="69579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49640" y="384048"/>
            <a:ext cx="3063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A441"/>
                </a:solidFill>
                <a:latin typeface="Aptos"/>
              </a:rPr>
              <a:t>ASK MAGIC MIKE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972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One private action unlocks Mike's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6510528"/>
            <a:ext cx="11064240" cy="13716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4206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B4B4B8"/>
                </a:solidFill>
                <a:latin typeface="Aptos"/>
              </a:rPr>
              <a:t>PHASE 5 LIVE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56248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D9A441"/>
                </a:solidFill>
                <a:latin typeface="Aptos"/>
              </a:rPr>
              <a:t>13</a:t>
            </a:r>
          </a:p>
        </p:txBody>
      </p:sp>
      <p:pic>
        <p:nvPicPr>
          <p:cNvPr id="9" name="Picture 8" descr="mike-headshot-sour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664208"/>
            <a:ext cx="3337560" cy="45262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046720" y="6140196"/>
            <a:ext cx="3337560" cy="50292"/>
          </a:xfrm>
          <a:prstGeom prst="rect">
            <a:avLst/>
          </a:prstGeom>
          <a:solidFill>
            <a:srgbClr val="D9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20240"/>
            <a:ext cx="25603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A441"/>
                </a:solidFill>
                <a:latin typeface="Aptos"/>
              </a:rPr>
              <a:t>NEXT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95728"/>
            <a:ext cx="6583680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Aptos"/>
              </a:rPr>
              <a:t>Mike chooses his private
Lead Center password.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78224"/>
            <a:ext cx="62636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F6E8BF"/>
                </a:solidFill>
                <a:latin typeface="Aptos"/>
              </a:rPr>
              <a:t>The funnel, email delivery, Form 3, monitoring, and Brandon's administrator access continue while that private step remains open.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69280"/>
            <a:ext cx="5852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4B4B8"/>
                </a:solidFill>
                <a:latin typeface="Aptos"/>
              </a:rPr>
              <a:t>No credential or activation token belongs in shared artifacts.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